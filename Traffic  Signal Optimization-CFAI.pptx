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6" r:id="rId5"/>
    <p:sldId id="265" r:id="rId6"/>
    <p:sldId id="275" r:id="rId7"/>
    <p:sldId id="276" r:id="rId8"/>
    <p:sldId id="277" r:id="rId9"/>
    <p:sldId id="278" r:id="rId10"/>
    <p:sldId id="279" r:id="rId11"/>
    <p:sldId id="280" r:id="rId12"/>
    <p:sldId id="281" r:id="rId1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1B81974-81A8-416C-B10F-F0C9B0DFC01D}">
          <p14:sldIdLst>
            <p14:sldId id="256"/>
            <p14:sldId id="265"/>
            <p14:sldId id="275"/>
            <p14:sldId id="276"/>
            <p14:sldId id="277"/>
          </p14:sldIdLst>
        </p14:section>
        <p14:section name="Untitled Section" id="{5F69D64D-3D63-4EA5-852E-C8E664488709}">
          <p14:sldIdLst>
            <p14:sldId id="278"/>
            <p14:sldId id="279"/>
            <p14:sldId id="280"/>
            <p14:sldId id="281"/>
          </p14:sldIdLst>
        </p14:section>
      </p14:sectionLst>
    </p:ext>
    <p:ext uri="{EFAFB233-063F-42B5-8137-9DF3F51BA10A}">
      <p15:sldGuideLst xmlns:p15="http://schemas.microsoft.com/office/powerpoint/2012/main">
        <p15:guide id="1" orient="horz" pos="2160">
          <p15:clr>
            <a:srgbClr val="A4A3A4"/>
          </p15:clr>
        </p15:guide>
        <p15:guide id="8"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F21753-979C-475E-B485-3639836B4CCB}" v="22" dt="2026-05-21T07:11:15.7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706" autoAdjust="0"/>
  </p:normalViewPr>
  <p:slideViewPr>
    <p:cSldViewPr showGuides="1">
      <p:cViewPr varScale="1">
        <p:scale>
          <a:sx n="82" d="100"/>
          <a:sy n="82" d="100"/>
        </p:scale>
        <p:origin x="677" y="72"/>
      </p:cViewPr>
      <p:guideLst>
        <p:guide orient="horz" pos="2160"/>
        <p:guide pos="3839"/>
      </p:guideLst>
    </p:cSldViewPr>
  </p:slideViewPr>
  <p:notesTextViewPr>
    <p:cViewPr>
      <p:scale>
        <a:sx n="1" d="1"/>
        <a:sy n="1" d="1"/>
      </p:scale>
      <p:origin x="0" y="0"/>
    </p:cViewPr>
  </p:notesTextViewPr>
  <p:notesViewPr>
    <p:cSldViewPr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5/21/2026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5/21/2026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533400"/>
            <a:ext cx="5029200" cy="251460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065212" y="3403600"/>
            <a:ext cx="5029201" cy="1397000"/>
          </a:xfrm>
        </p:spPr>
        <p:txBody>
          <a:bodyPr>
            <a:normAutofit/>
          </a:bodyPr>
          <a:lstStyle>
            <a:lvl1pPr marL="0" indent="0" algn="l">
              <a:spcBef>
                <a:spcPts val="600"/>
              </a:spcBef>
              <a:buNone/>
              <a:defRPr sz="24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5/21/2026</a:t>
            </a:fld>
            <a:endParaRPr dirty="0"/>
          </a:p>
        </p:txBody>
      </p:sp>
      <p:sp>
        <p:nvSpPr>
          <p:cNvPr id="6" name="Slide Number Placeholder 5"/>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66475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5/21/2026</a:t>
            </a:fld>
            <a:endParaRPr dirty="0"/>
          </a:p>
        </p:txBody>
      </p:sp>
      <p:sp>
        <p:nvSpPr>
          <p:cNvPr id="6" name="Slide Number Placeholder 5"/>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242915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4" y="533400"/>
            <a:ext cx="8686800" cy="2286000"/>
          </a:xfrm>
        </p:spPr>
        <p:txBody>
          <a:bodyPr anchor="b">
            <a:normAutofit/>
          </a:bodyPr>
          <a:lstStyle>
            <a:lvl1pPr algn="l">
              <a:defRPr sz="5400" b="1" cap="none" baseline="0"/>
            </a:lvl1pPr>
          </a:lstStyle>
          <a:p>
            <a:r>
              <a:rPr lang="en-US"/>
              <a:t>Click to edit Master title style</a:t>
            </a:r>
            <a:endParaRPr/>
          </a:p>
        </p:txBody>
      </p:sp>
      <p:sp>
        <p:nvSpPr>
          <p:cNvPr id="3" name="Text Placeholder 2"/>
          <p:cNvSpPr>
            <a:spLocks noGrp="1"/>
          </p:cNvSpPr>
          <p:nvPr>
            <p:ph type="body" idx="1"/>
          </p:nvPr>
        </p:nvSpPr>
        <p:spPr>
          <a:xfrm>
            <a:off x="1065214" y="3124200"/>
            <a:ext cx="8686800" cy="1371600"/>
          </a:xfrm>
        </p:spPr>
        <p:txBody>
          <a:bodyPr anchor="t">
            <a:normAutofit/>
          </a:bodyPr>
          <a:lstStyle>
            <a:lvl1pPr marL="0" indent="0">
              <a:spcBef>
                <a:spcPts val="600"/>
              </a:spcBef>
              <a:buNone/>
              <a:defRPr sz="24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5/21/2026</a:t>
            </a:fld>
            <a:endParaRPr dirty="0"/>
          </a:p>
        </p:txBody>
      </p:sp>
      <p:sp>
        <p:nvSpPr>
          <p:cNvPr id="6" name="Slide Number Placeholder 5"/>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370133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5212" y="1828800"/>
            <a:ext cx="4251960"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5464598" y="1828800"/>
            <a:ext cx="4251960"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3E0FA9E5-6744-4841-888F-9E7CC0C2B7EC}" type="datetimeFigureOut">
              <a:rPr lang="en-US"/>
              <a:t>5/21/2026</a:t>
            </a:fld>
            <a:endParaRPr dirty="0"/>
          </a:p>
        </p:txBody>
      </p:sp>
      <p:sp>
        <p:nvSpPr>
          <p:cNvPr id="7" name="Slide Number Placeholder 6"/>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341370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065213" y="1828799"/>
            <a:ext cx="4251960"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5213" y="2590800"/>
            <a:ext cx="4251960"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5500053" y="1828799"/>
            <a:ext cx="4251960"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00053" y="2590800"/>
            <a:ext cx="4251960"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7" name="Date Placeholder 6"/>
          <p:cNvSpPr>
            <a:spLocks noGrp="1"/>
          </p:cNvSpPr>
          <p:nvPr>
            <p:ph type="dt" sz="half" idx="10"/>
          </p:nvPr>
        </p:nvSpPr>
        <p:spPr/>
        <p:txBody>
          <a:bodyPr/>
          <a:lstStyle/>
          <a:p>
            <a:fld id="{3E0FA9E5-6744-4841-888F-9E7CC0C2B7EC}" type="datetimeFigureOut">
              <a:rPr lang="en-US"/>
              <a:t>5/21/2026</a:t>
            </a:fld>
            <a:endParaRPr dirty="0"/>
          </a:p>
        </p:txBody>
      </p:sp>
      <p:sp>
        <p:nvSpPr>
          <p:cNvPr id="9" name="Slide Number Placeholder 8"/>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20007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3" name="Date Placeholder 2"/>
          <p:cNvSpPr>
            <a:spLocks noGrp="1"/>
          </p:cNvSpPr>
          <p:nvPr>
            <p:ph type="dt" sz="half" idx="10"/>
          </p:nvPr>
        </p:nvSpPr>
        <p:spPr/>
        <p:txBody>
          <a:bodyPr/>
          <a:lstStyle/>
          <a:p>
            <a:fld id="{3E0FA9E5-6744-4841-888F-9E7CC0C2B7EC}" type="datetimeFigureOut">
              <a:rPr lang="en-US"/>
              <a:t>5/21/2026</a:t>
            </a:fld>
            <a:endParaRPr dirty="0"/>
          </a:p>
        </p:txBody>
      </p:sp>
      <p:sp>
        <p:nvSpPr>
          <p:cNvPr id="5" name="Slide Number Placeholder 4"/>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90715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endParaRPr dirty="0"/>
          </a:p>
        </p:txBody>
      </p:sp>
      <p:sp>
        <p:nvSpPr>
          <p:cNvPr id="2" name="Date Placeholder 1"/>
          <p:cNvSpPr>
            <a:spLocks noGrp="1"/>
          </p:cNvSpPr>
          <p:nvPr>
            <p:ph type="dt" sz="half" idx="10"/>
          </p:nvPr>
        </p:nvSpPr>
        <p:spPr/>
        <p:txBody>
          <a:bodyPr/>
          <a:lstStyle/>
          <a:p>
            <a:fld id="{3E0FA9E5-6744-4841-888F-9E7CC0C2B7EC}" type="datetimeFigureOut">
              <a:rPr lang="en-US"/>
              <a:t>5/21/2026</a:t>
            </a:fld>
            <a:endParaRPr dirty="0"/>
          </a:p>
        </p:txBody>
      </p:sp>
      <p:sp>
        <p:nvSpPr>
          <p:cNvPr id="4" name="Slide Number Placeholder 3"/>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244153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3" y="533400"/>
            <a:ext cx="4114800" cy="1524000"/>
          </a:xfrm>
        </p:spPr>
        <p:txBody>
          <a:bodyPr anchor="b">
            <a:normAutofit/>
          </a:bodyPr>
          <a:lstStyle>
            <a:lvl1pPr algn="l">
              <a:defRPr sz="3600" b="1"/>
            </a:lvl1pPr>
          </a:lstStyle>
          <a:p>
            <a:r>
              <a:rPr lang="en-US"/>
              <a:t>Click to edit Master title style</a:t>
            </a:r>
            <a:endParaRPr/>
          </a:p>
        </p:txBody>
      </p:sp>
      <p:sp>
        <p:nvSpPr>
          <p:cNvPr id="3" name="Content Placeholder 2"/>
          <p:cNvSpPr>
            <a:spLocks noGrp="1"/>
          </p:cNvSpPr>
          <p:nvPr>
            <p:ph idx="1"/>
          </p:nvPr>
        </p:nvSpPr>
        <p:spPr>
          <a:xfrm>
            <a:off x="5865813" y="533400"/>
            <a:ext cx="586740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65213" y="2209800"/>
            <a:ext cx="4114800" cy="3810000"/>
          </a:xfrm>
        </p:spPr>
        <p:txBody>
          <a:bodyPr>
            <a:normAutofit/>
          </a:bodyPr>
          <a:lstStyle>
            <a:lvl1pPr marL="0" indent="0">
              <a:lnSpc>
                <a:spcPct val="110000"/>
              </a:lnSpc>
              <a:spcBef>
                <a:spcPts val="600"/>
              </a:spcBef>
              <a:buNone/>
              <a:defRPr sz="1800">
                <a:solidFill>
                  <a:schemeClr val="tx1">
                    <a:lumMod val="65000"/>
                    <a:lumOff val="3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3E0FA9E5-6744-4841-888F-9E7CC0C2B7EC}" type="datetimeFigureOut">
              <a:rPr lang="en-US"/>
              <a:t>5/21/2026</a:t>
            </a:fld>
            <a:endParaRPr dirty="0"/>
          </a:p>
        </p:txBody>
      </p:sp>
      <p:sp>
        <p:nvSpPr>
          <p:cNvPr id="7" name="Slide Number Placeholder 6"/>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210171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3" y="533400"/>
            <a:ext cx="4114800" cy="1524000"/>
          </a:xfrm>
        </p:spPr>
        <p:txBody>
          <a:bodyPr anchor="b">
            <a:noAutofit/>
          </a:bodyPr>
          <a:lstStyle>
            <a:lvl1pPr algn="l">
              <a:defRPr sz="3600" b="1"/>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2" y="533400"/>
            <a:ext cx="5780173" cy="5791200"/>
          </a:xfrm>
          <a:ln w="50800">
            <a:solidFill>
              <a:schemeClr val="tx1">
                <a:lumMod val="65000"/>
                <a:lumOff val="35000"/>
              </a:schemeClr>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65213" y="2209800"/>
            <a:ext cx="4114800" cy="3810000"/>
          </a:xfrm>
        </p:spPr>
        <p:txBody>
          <a:bodyPr>
            <a:normAutofit/>
          </a:bodyPr>
          <a:lstStyle>
            <a:lvl1pPr marL="0" indent="0">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196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5/21/2026</a:t>
            </a:fld>
            <a:endParaRPr dirty="0"/>
          </a:p>
        </p:txBody>
      </p:sp>
      <p:sp>
        <p:nvSpPr>
          <p:cNvPr id="6" name="Slide Number Placeholder 5"/>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266809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1412" y="533400"/>
            <a:ext cx="2362201"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065213" y="533400"/>
            <a:ext cx="7467599"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5/21/2026</a:t>
            </a:fld>
            <a:endParaRPr dirty="0"/>
          </a:p>
        </p:txBody>
      </p:sp>
      <p:sp>
        <p:nvSpPr>
          <p:cNvPr id="6" name="Slide Number Placeholder 5"/>
          <p:cNvSpPr>
            <a:spLocks noGrp="1"/>
          </p:cNvSpPr>
          <p:nvPr>
            <p:ph type="sldNum" sz="quarter" idx="12"/>
          </p:nvPr>
        </p:nvSpPr>
        <p:spPr/>
        <p:txBody>
          <a:bodyPr/>
          <a:lstStyle/>
          <a:p>
            <a:fld id="{AAEAE4A8-A6E5-453E-B946-FB774B73F48C}" type="slidenum">
              <a:rPr/>
              <a:t>‹#›</a:t>
            </a:fld>
            <a:endParaRPr dirty="0"/>
          </a:p>
        </p:txBody>
      </p:sp>
    </p:spTree>
    <p:extLst>
      <p:ext uri="{BB962C8B-B14F-4D97-AF65-F5344CB8AC3E}">
        <p14:creationId xmlns:p14="http://schemas.microsoft.com/office/powerpoint/2010/main" val="18824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r>
              <a:rPr lang="en-US" dirty="0"/>
              <a:t>Add a footer</a:t>
            </a:r>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3E0FA9E5-6744-4841-888F-9E7CC0C2B7EC}" type="datetimeFigureOut">
              <a:rPr lang="en-US" smtClean="0"/>
              <a:pPr/>
              <a:t>5/21/2026</a:t>
            </a:fld>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597054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3600" b="1" kern="1200">
          <a:solidFill>
            <a:schemeClr val="accent1">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692695"/>
            <a:ext cx="8845622" cy="1080121"/>
          </a:xfrm>
        </p:spPr>
        <p:txBody>
          <a:bodyPr/>
          <a:lstStyle/>
          <a:p>
            <a:pPr algn="ctr"/>
            <a:r>
              <a:rPr lang="en-US" dirty="0">
                <a:latin typeface="Times New Roman" panose="02020603050405020304" pitchFamily="18" charset="0"/>
                <a:cs typeface="Times New Roman" panose="02020603050405020304" pitchFamily="18" charset="0"/>
              </a:rPr>
              <a:t>Traffic Signal Optimization</a:t>
            </a:r>
          </a:p>
        </p:txBody>
      </p:sp>
      <p:sp>
        <p:nvSpPr>
          <p:cNvPr id="3" name="Subtitle 2"/>
          <p:cNvSpPr>
            <a:spLocks noGrp="1"/>
          </p:cNvSpPr>
          <p:nvPr>
            <p:ph type="subTitle" idx="1"/>
          </p:nvPr>
        </p:nvSpPr>
        <p:spPr>
          <a:xfrm>
            <a:off x="261764" y="3068961"/>
            <a:ext cx="3888432" cy="2376264"/>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Team Members</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err="1">
                <a:solidFill>
                  <a:schemeClr val="tx1"/>
                </a:solidFill>
                <a:latin typeface="Times New Roman" panose="02020603050405020304" pitchFamily="18" charset="0"/>
                <a:cs typeface="Times New Roman" panose="02020603050405020304" pitchFamily="18" charset="0"/>
              </a:rPr>
              <a:t>G.Aishwarya</a:t>
            </a:r>
            <a:r>
              <a:rPr lang="en-US" dirty="0">
                <a:solidFill>
                  <a:schemeClr val="tx1"/>
                </a:solidFill>
                <a:latin typeface="Times New Roman" panose="02020603050405020304" pitchFamily="18" charset="0"/>
                <a:cs typeface="Times New Roman" panose="02020603050405020304" pitchFamily="18" charset="0"/>
              </a:rPr>
              <a:t> – 2520040013 </a:t>
            </a:r>
          </a:p>
          <a:p>
            <a:r>
              <a:rPr lang="en-US" dirty="0" err="1">
                <a:solidFill>
                  <a:schemeClr val="tx1"/>
                </a:solidFill>
                <a:latin typeface="Times New Roman" panose="02020603050405020304" pitchFamily="18" charset="0"/>
                <a:cs typeface="Times New Roman" panose="02020603050405020304" pitchFamily="18" charset="0"/>
              </a:rPr>
              <a:t>K.Taniya</a:t>
            </a:r>
            <a:r>
              <a:rPr lang="en-US" dirty="0">
                <a:solidFill>
                  <a:schemeClr val="tx1"/>
                </a:solidFill>
                <a:latin typeface="Times New Roman" panose="02020603050405020304" pitchFamily="18" charset="0"/>
                <a:cs typeface="Times New Roman" panose="02020603050405020304" pitchFamily="18" charset="0"/>
              </a:rPr>
              <a:t>        - 2520040083</a:t>
            </a:r>
          </a:p>
          <a:p>
            <a:r>
              <a:rPr lang="en-US" dirty="0" err="1">
                <a:solidFill>
                  <a:schemeClr val="tx1"/>
                </a:solidFill>
                <a:latin typeface="Times New Roman" panose="02020603050405020304" pitchFamily="18" charset="0"/>
                <a:cs typeface="Times New Roman" panose="02020603050405020304" pitchFamily="18" charset="0"/>
              </a:rPr>
              <a:t>B.Akshaya</a:t>
            </a:r>
            <a:r>
              <a:rPr lang="en-US" dirty="0">
                <a:solidFill>
                  <a:schemeClr val="tx1"/>
                </a:solidFill>
                <a:latin typeface="Times New Roman" panose="02020603050405020304" pitchFamily="18" charset="0"/>
                <a:cs typeface="Times New Roman" panose="02020603050405020304" pitchFamily="18" charset="0"/>
              </a:rPr>
              <a:t>     - 2520040084</a:t>
            </a:r>
          </a:p>
        </p:txBody>
      </p:sp>
      <p:sp>
        <p:nvSpPr>
          <p:cNvPr id="4" name="TextBox 3">
            <a:extLst>
              <a:ext uri="{FF2B5EF4-FFF2-40B4-BE49-F238E27FC236}">
                <a16:creationId xmlns:a16="http://schemas.microsoft.com/office/drawing/2014/main" id="{1A6BEE7D-C7C2-5A1C-57D2-568A01EF66F2}"/>
              </a:ext>
            </a:extLst>
          </p:cNvPr>
          <p:cNvSpPr txBox="1"/>
          <p:nvPr/>
        </p:nvSpPr>
        <p:spPr>
          <a:xfrm>
            <a:off x="4366220" y="4797152"/>
            <a:ext cx="4968552" cy="1569660"/>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Under the Guidance of Guide Name: </a:t>
            </a:r>
            <a:r>
              <a:rPr lang="en-US" sz="3200" dirty="0" err="1">
                <a:latin typeface="Times New Roman" panose="02020603050405020304" pitchFamily="18" charset="0"/>
                <a:cs typeface="Times New Roman" panose="02020603050405020304" pitchFamily="18" charset="0"/>
              </a:rPr>
              <a:t>Dr.G.Sudhakar</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Department of ECE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65212" y="404664"/>
            <a:ext cx="8686801" cy="778768"/>
          </a:xfrm>
        </p:spPr>
        <p:txBody>
          <a:bodyPr>
            <a:normAutofit/>
          </a:bodyPr>
          <a:lstStyle/>
          <a:p>
            <a:r>
              <a:rPr lang="en-US" dirty="0">
                <a:latin typeface="Times New Roman" panose="02020603050405020304" pitchFamily="18" charset="0"/>
                <a:cs typeface="Times New Roman" panose="02020603050405020304" pitchFamily="18" charset="0"/>
              </a:rPr>
              <a:t>CONTENTS / AGENDA</a:t>
            </a:r>
          </a:p>
        </p:txBody>
      </p:sp>
      <p:sp>
        <p:nvSpPr>
          <p:cNvPr id="14" name="Content Placeholder 13"/>
          <p:cNvSpPr>
            <a:spLocks noGrp="1"/>
          </p:cNvSpPr>
          <p:nvPr>
            <p:ph idx="1"/>
          </p:nvPr>
        </p:nvSpPr>
        <p:spPr>
          <a:xfrm>
            <a:off x="765820" y="1556792"/>
            <a:ext cx="9346233" cy="4851321"/>
          </a:xfrm>
        </p:spPr>
        <p:txBody>
          <a:bodyPr>
            <a:noAutofit/>
          </a:bodyPr>
          <a:lstStyle/>
          <a:p>
            <a:r>
              <a:rPr lang="en-US" dirty="0">
                <a:solidFill>
                  <a:schemeClr val="tx1"/>
                </a:solidFill>
                <a:latin typeface="Times New Roman" panose="02020603050405020304" pitchFamily="18" charset="0"/>
                <a:cs typeface="Times New Roman" panose="02020603050405020304" pitchFamily="18" charset="0"/>
              </a:rPr>
              <a:t>Introduction</a:t>
            </a:r>
          </a:p>
          <a:p>
            <a:r>
              <a:rPr lang="en-US" dirty="0">
                <a:solidFill>
                  <a:schemeClr val="tx1"/>
                </a:solidFill>
                <a:latin typeface="Times New Roman" panose="02020603050405020304" pitchFamily="18" charset="0"/>
                <a:cs typeface="Times New Roman" panose="02020603050405020304" pitchFamily="18" charset="0"/>
              </a:rPr>
              <a:t>Abstract</a:t>
            </a:r>
          </a:p>
          <a:p>
            <a:r>
              <a:rPr lang="en-US" dirty="0">
                <a:solidFill>
                  <a:schemeClr val="tx1"/>
                </a:solidFill>
                <a:latin typeface="Times New Roman" panose="02020603050405020304" pitchFamily="18" charset="0"/>
                <a:cs typeface="Times New Roman" panose="02020603050405020304" pitchFamily="18" charset="0"/>
              </a:rPr>
              <a:t>Hardware Components</a:t>
            </a:r>
          </a:p>
          <a:p>
            <a:r>
              <a:rPr lang="en-US" dirty="0">
                <a:solidFill>
                  <a:schemeClr val="tx1"/>
                </a:solidFill>
                <a:latin typeface="Times New Roman" panose="02020603050405020304" pitchFamily="18" charset="0"/>
                <a:cs typeface="Times New Roman" panose="02020603050405020304" pitchFamily="18" charset="0"/>
              </a:rPr>
              <a:t>Software Components</a:t>
            </a:r>
          </a:p>
          <a:p>
            <a:r>
              <a:rPr lang="en-US" dirty="0">
                <a:solidFill>
                  <a:schemeClr val="tx1"/>
                </a:solidFill>
                <a:latin typeface="Times New Roman" panose="02020603050405020304" pitchFamily="18" charset="0"/>
                <a:cs typeface="Times New Roman" panose="02020603050405020304" pitchFamily="18" charset="0"/>
              </a:rPr>
              <a:t>Methodology</a:t>
            </a:r>
          </a:p>
          <a:p>
            <a:pPr marL="45720" indent="0">
              <a:buNone/>
            </a:pPr>
            <a:r>
              <a:rPr lang="en-US" dirty="0">
                <a:solidFill>
                  <a:schemeClr val="tx1"/>
                </a:solidFill>
                <a:latin typeface="Times New Roman" panose="02020603050405020304" pitchFamily="18" charset="0"/>
                <a:cs typeface="Times New Roman" panose="02020603050405020304" pitchFamily="18" charset="0"/>
              </a:rPr>
              <a:t>     a)Existence System</a:t>
            </a:r>
          </a:p>
          <a:p>
            <a:pPr marL="45720" indent="0">
              <a:buNone/>
            </a:pPr>
            <a:r>
              <a:rPr lang="en-US" dirty="0">
                <a:solidFill>
                  <a:schemeClr val="tx1"/>
                </a:solidFill>
                <a:latin typeface="Times New Roman" panose="02020603050405020304" pitchFamily="18" charset="0"/>
                <a:cs typeface="Times New Roman" panose="02020603050405020304" pitchFamily="18" charset="0"/>
              </a:rPr>
              <a:t>     b)Architecture</a:t>
            </a:r>
          </a:p>
          <a:p>
            <a:pPr marL="45720" indent="0">
              <a:buNone/>
            </a:pPr>
            <a:r>
              <a:rPr lang="en-US" dirty="0">
                <a:solidFill>
                  <a:schemeClr val="tx1"/>
                </a:solidFill>
                <a:latin typeface="Times New Roman" panose="02020603050405020304" pitchFamily="18" charset="0"/>
                <a:cs typeface="Times New Roman" panose="02020603050405020304" pitchFamily="18" charset="0"/>
              </a:rPr>
              <a:t>     c)Proposed System</a:t>
            </a:r>
          </a:p>
          <a:p>
            <a:pPr marL="45720" indent="0">
              <a:buNone/>
            </a:pPr>
            <a:r>
              <a:rPr lang="en-US" dirty="0">
                <a:solidFill>
                  <a:schemeClr val="tx1"/>
                </a:solidFill>
                <a:latin typeface="Times New Roman" panose="02020603050405020304" pitchFamily="18" charset="0"/>
                <a:cs typeface="Times New Roman" panose="02020603050405020304" pitchFamily="18" charset="0"/>
              </a:rPr>
              <a:t>     d)Proposed system’s Architecture</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23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A8EC-6FC8-616C-C28C-6B9130F852FC}"/>
              </a:ext>
            </a:extLst>
          </p:cNvPr>
          <p:cNvSpPr>
            <a:spLocks noGrp="1"/>
          </p:cNvSpPr>
          <p:nvPr>
            <p:ph type="title"/>
          </p:nvPr>
        </p:nvSpPr>
        <p:spPr>
          <a:xfrm>
            <a:off x="621804" y="260648"/>
            <a:ext cx="8842177" cy="1066800"/>
          </a:xfrm>
        </p:spPr>
        <p:txBody>
          <a:bodyPr/>
          <a:lstStyle/>
          <a:p>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AFE8DB-6C80-FF85-4A0A-C30754D4205D}"/>
              </a:ext>
            </a:extLst>
          </p:cNvPr>
          <p:cNvSpPr>
            <a:spLocks noGrp="1"/>
          </p:cNvSpPr>
          <p:nvPr>
            <p:ph idx="1"/>
          </p:nvPr>
        </p:nvSpPr>
        <p:spPr>
          <a:xfrm>
            <a:off x="996651" y="1700808"/>
            <a:ext cx="9346233" cy="4246984"/>
          </a:xfrm>
        </p:spPr>
        <p:txBody>
          <a:bodyPr>
            <a:normAutofit/>
          </a:bodyPr>
          <a:lstStyle/>
          <a:p>
            <a:pPr marL="45720" indent="0">
              <a:buNone/>
            </a:pPr>
            <a:r>
              <a:rPr lang="en-US" dirty="0">
                <a:latin typeface="Times New Roman" panose="02020603050405020304" pitchFamily="18" charset="0"/>
                <a:cs typeface="Times New Roman" panose="02020603050405020304" pitchFamily="18" charset="0"/>
              </a:rPr>
              <a:t>Traffic congestion has become one of the major problems in urban areas due to the increasing number of vehicles on roads. Traditional traffic signals operate on fixed time intervals, which often leads to unnecessary waiting time and traffic jams even when roads are less crowded. To solve this issue, this project proposes a Rule-Based Traffic Signal Optimization System.</a:t>
            </a:r>
          </a:p>
          <a:p>
            <a:pPr marL="45720" indent="0">
              <a:buNone/>
            </a:pPr>
            <a:r>
              <a:rPr lang="en-US" dirty="0">
                <a:latin typeface="Times New Roman" panose="02020603050405020304" pitchFamily="18" charset="0"/>
                <a:cs typeface="Times New Roman" panose="02020603050405020304" pitchFamily="18" charset="0"/>
              </a:rPr>
              <a:t>The system works by analyzing traffic density on different roads and controlling the traffic lights according to predefined rules. Sensors are used to detect the number of vehicles present in each lane. Based on the traffic conditions, the system dynamically changes the signal timings to reduce congestion and improve traffic flow.</a:t>
            </a:r>
          </a:p>
          <a:p>
            <a:pPr marL="45720" indent="0">
              <a:buNone/>
            </a:pPr>
            <a:r>
              <a:rPr lang="en-US" dirty="0">
                <a:latin typeface="Times New Roman" panose="02020603050405020304" pitchFamily="18" charset="0"/>
                <a:cs typeface="Times New Roman" panose="02020603050405020304" pitchFamily="18" charset="0"/>
              </a:rPr>
              <a:t>The rule-based approach makes the system simple, cost-effective, and easy to implement. It helps in minimizing waiting time, reducing fuel consumption, lowering pollution levels, and improving road efficiency. This project can be effectively used in smart cities and busy traffic intersections for better traffic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637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1A96-3A84-788A-251E-FC3A104CB359}"/>
              </a:ext>
            </a:extLst>
          </p:cNvPr>
          <p:cNvSpPr>
            <a:spLocks noGrp="1"/>
          </p:cNvSpPr>
          <p:nvPr>
            <p:ph type="title"/>
          </p:nvPr>
        </p:nvSpPr>
        <p:spPr>
          <a:xfrm>
            <a:off x="1065212" y="260648"/>
            <a:ext cx="8686801" cy="1080120"/>
          </a:xfrm>
        </p:spPr>
        <p:txBody>
          <a:bodyPr>
            <a:normAutofit/>
          </a:bodyPr>
          <a:lstStyle/>
          <a:p>
            <a:r>
              <a:rPr lang="en-US" dirty="0">
                <a:latin typeface="Times New Roman" panose="02020603050405020304" pitchFamily="18" charset="0"/>
                <a:cs typeface="Times New Roman" panose="02020603050405020304" pitchFamily="18" charset="0"/>
              </a:rPr>
              <a:t>HARDWARE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B1CCB58-AA68-E9AF-920B-22EA1B3BC3C6}"/>
              </a:ext>
            </a:extLst>
          </p:cNvPr>
          <p:cNvSpPr>
            <a:spLocks noGrp="1"/>
          </p:cNvSpPr>
          <p:nvPr>
            <p:ph idx="1"/>
          </p:nvPr>
        </p:nvSpPr>
        <p:spPr>
          <a:xfrm>
            <a:off x="837829" y="1772816"/>
            <a:ext cx="4824536" cy="4464496"/>
          </a:xfrm>
        </p:spPr>
        <p:txBody>
          <a:bodyPr>
            <a:noAutofit/>
          </a:bodyPr>
          <a:lstStyle/>
          <a:p>
            <a:r>
              <a:rPr lang="en-IN" sz="1800" dirty="0">
                <a:solidFill>
                  <a:schemeClr val="tx1"/>
                </a:solidFill>
                <a:latin typeface="Times New Roman" panose="02020603050405020304" pitchFamily="18" charset="0"/>
                <a:cs typeface="Times New Roman" panose="02020603050405020304" pitchFamily="18" charset="0"/>
              </a:rPr>
              <a:t>Arduino Uno / Raspberry Pi</a:t>
            </a:r>
          </a:p>
          <a:p>
            <a:pPr marL="45720" indent="0">
              <a:buNone/>
            </a:pPr>
            <a:r>
              <a:rPr lang="en-IN" sz="1800" dirty="0">
                <a:solidFill>
                  <a:schemeClr val="tx1"/>
                </a:solidFill>
                <a:latin typeface="Times New Roman" panose="02020603050405020304" pitchFamily="18" charset="0"/>
                <a:cs typeface="Times New Roman" panose="02020603050405020304" pitchFamily="18" charset="0"/>
              </a:rPr>
              <a:t>-Main controller used to process traffic data and control signals</a:t>
            </a:r>
          </a:p>
          <a:p>
            <a:r>
              <a:rPr lang="en-IN" sz="1800" dirty="0">
                <a:solidFill>
                  <a:schemeClr val="tx1"/>
                </a:solidFill>
                <a:latin typeface="Times New Roman" panose="02020603050405020304" pitchFamily="18" charset="0"/>
                <a:cs typeface="Times New Roman" panose="02020603050405020304" pitchFamily="18" charset="0"/>
              </a:rPr>
              <a:t>IR Sensors / Ultrasonic Sensors</a:t>
            </a:r>
          </a:p>
          <a:p>
            <a:pPr marL="45720" indent="0">
              <a:buNone/>
            </a:pPr>
            <a:r>
              <a:rPr lang="en-IN" sz="1800" dirty="0">
                <a:solidFill>
                  <a:schemeClr val="tx1"/>
                </a:solidFill>
                <a:latin typeface="Times New Roman" panose="02020603050405020304" pitchFamily="18" charset="0"/>
                <a:cs typeface="Times New Roman" panose="02020603050405020304" pitchFamily="18" charset="0"/>
              </a:rPr>
              <a:t>-Detect vehicle density on roads</a:t>
            </a:r>
          </a:p>
          <a:p>
            <a:r>
              <a:rPr lang="en-IN" sz="1800" dirty="0">
                <a:solidFill>
                  <a:schemeClr val="tx1"/>
                </a:solidFill>
                <a:latin typeface="Times New Roman" panose="02020603050405020304" pitchFamily="18" charset="0"/>
                <a:cs typeface="Times New Roman" panose="02020603050405020304" pitchFamily="18" charset="0"/>
              </a:rPr>
              <a:t>Traffic LEDs (Red, Yellow, Green)</a:t>
            </a:r>
          </a:p>
          <a:p>
            <a:pPr marL="45720" indent="0">
              <a:buNone/>
            </a:pPr>
            <a:r>
              <a:rPr lang="en-IN" sz="1800" dirty="0">
                <a:solidFill>
                  <a:schemeClr val="tx1"/>
                </a:solidFill>
                <a:latin typeface="Times New Roman" panose="02020603050405020304" pitchFamily="18" charset="0"/>
                <a:cs typeface="Times New Roman" panose="02020603050405020304" pitchFamily="18" charset="0"/>
              </a:rPr>
              <a:t>-Represent traffic signal lights</a:t>
            </a:r>
          </a:p>
          <a:p>
            <a:r>
              <a:rPr lang="en-IN" sz="1800" dirty="0">
                <a:solidFill>
                  <a:schemeClr val="tx1"/>
                </a:solidFill>
                <a:latin typeface="Times New Roman" panose="02020603050405020304" pitchFamily="18" charset="0"/>
                <a:cs typeface="Times New Roman" panose="02020603050405020304" pitchFamily="18" charset="0"/>
              </a:rPr>
              <a:t>Breadboard</a:t>
            </a:r>
          </a:p>
          <a:p>
            <a:pPr marL="45720" indent="0">
              <a:buNone/>
            </a:pPr>
            <a:r>
              <a:rPr lang="en-IN" sz="1800" dirty="0">
                <a:solidFill>
                  <a:schemeClr val="tx1"/>
                </a:solidFill>
                <a:latin typeface="Times New Roman" panose="02020603050405020304" pitchFamily="18" charset="0"/>
                <a:cs typeface="Times New Roman" panose="02020603050405020304" pitchFamily="18" charset="0"/>
              </a:rPr>
              <a:t>-Used for circuit connections</a:t>
            </a:r>
          </a:p>
          <a:p>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33E8FDA-614D-36F9-9C80-CF301C6F6624}"/>
              </a:ext>
            </a:extLst>
          </p:cNvPr>
          <p:cNvSpPr txBox="1"/>
          <p:nvPr/>
        </p:nvSpPr>
        <p:spPr>
          <a:xfrm>
            <a:off x="6094412" y="1556792"/>
            <a:ext cx="4752528" cy="443974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Jumper Wires</a:t>
            </a:r>
          </a:p>
          <a:p>
            <a:pPr>
              <a:lnSpc>
                <a:spcPct val="200000"/>
              </a:lnSpc>
            </a:pPr>
            <a:r>
              <a:rPr lang="en-IN" dirty="0">
                <a:latin typeface="Times New Roman" panose="02020603050405020304" pitchFamily="18" charset="0"/>
                <a:cs typeface="Times New Roman" panose="02020603050405020304" pitchFamily="18" charset="0"/>
              </a:rPr>
              <a:t>-Connect components together</a:t>
            </a:r>
          </a:p>
          <a:p>
            <a:pPr marL="285750" indent="-285750">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Power Supply / Adapter</a:t>
            </a:r>
          </a:p>
          <a:p>
            <a:pPr>
              <a:lnSpc>
                <a:spcPct val="200000"/>
              </a:lnSpc>
            </a:pPr>
            <a:r>
              <a:rPr lang="en-IN" dirty="0">
                <a:latin typeface="Times New Roman" panose="02020603050405020304" pitchFamily="18" charset="0"/>
                <a:cs typeface="Times New Roman" panose="02020603050405020304" pitchFamily="18" charset="0"/>
              </a:rPr>
              <a:t>-Provides power to the system</a:t>
            </a:r>
          </a:p>
          <a:p>
            <a:pPr marL="285750" indent="-285750">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LCD Display (Optional)</a:t>
            </a:r>
          </a:p>
          <a:p>
            <a:pPr>
              <a:lnSpc>
                <a:spcPct val="200000"/>
              </a:lnSpc>
            </a:pPr>
            <a:r>
              <a:rPr lang="en-IN" dirty="0">
                <a:latin typeface="Times New Roman" panose="02020603050405020304" pitchFamily="18" charset="0"/>
                <a:cs typeface="Times New Roman" panose="02020603050405020304" pitchFamily="18" charset="0"/>
              </a:rPr>
              <a:t>-Displays traffic status and signal timing</a:t>
            </a:r>
          </a:p>
          <a:p>
            <a:pPr marL="285750" indent="-285750">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Buzzer (Optional)</a:t>
            </a:r>
          </a:p>
          <a:p>
            <a:pPr>
              <a:lnSpc>
                <a:spcPct val="200000"/>
              </a:lnSpc>
            </a:pPr>
            <a:r>
              <a:rPr lang="en-IN" dirty="0">
                <a:latin typeface="Times New Roman" panose="02020603050405020304" pitchFamily="18" charset="0"/>
                <a:cs typeface="Times New Roman" panose="02020603050405020304" pitchFamily="18" charset="0"/>
              </a:rPr>
              <a:t>-Alerts during emergency conditions</a:t>
            </a:r>
            <a:endParaRPr lang="en-IN" dirty="0"/>
          </a:p>
        </p:txBody>
      </p:sp>
    </p:spTree>
    <p:extLst>
      <p:ext uri="{BB962C8B-B14F-4D97-AF65-F5344CB8AC3E}">
        <p14:creationId xmlns:p14="http://schemas.microsoft.com/office/powerpoint/2010/main" val="1611360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D29BD-BD93-0AC9-D9AD-A7AE708307D7}"/>
              </a:ext>
            </a:extLst>
          </p:cNvPr>
          <p:cNvSpPr>
            <a:spLocks noGrp="1"/>
          </p:cNvSpPr>
          <p:nvPr>
            <p:ph type="title"/>
          </p:nvPr>
        </p:nvSpPr>
        <p:spPr>
          <a:xfrm>
            <a:off x="1065212" y="533400"/>
            <a:ext cx="8686801" cy="519336"/>
          </a:xfrm>
        </p:spPr>
        <p:txBody>
          <a:bodyPr>
            <a:normAutofit fontScale="90000"/>
          </a:bodyPr>
          <a:lstStyle/>
          <a:p>
            <a:r>
              <a:rPr lang="en-US" dirty="0">
                <a:latin typeface="Times New Roman" panose="02020603050405020304" pitchFamily="18" charset="0"/>
                <a:cs typeface="Times New Roman" panose="02020603050405020304" pitchFamily="18" charset="0"/>
              </a:rPr>
              <a:t>SOFTWARE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764549-F39A-A21E-FCFE-88F00AB40CF9}"/>
              </a:ext>
            </a:extLst>
          </p:cNvPr>
          <p:cNvSpPr>
            <a:spLocks noGrp="1"/>
          </p:cNvSpPr>
          <p:nvPr>
            <p:ph idx="1"/>
          </p:nvPr>
        </p:nvSpPr>
        <p:spPr>
          <a:xfrm>
            <a:off x="1065212" y="1052736"/>
            <a:ext cx="8686801" cy="4967064"/>
          </a:xfrm>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Arduino IDE</a:t>
            </a:r>
          </a:p>
          <a:p>
            <a:pPr marL="45720" indent="0">
              <a:buNone/>
            </a:pPr>
            <a:r>
              <a:rPr lang="en-IN" dirty="0">
                <a:solidFill>
                  <a:schemeClr val="tx1"/>
                </a:solidFill>
                <a:latin typeface="Times New Roman" panose="02020603050405020304" pitchFamily="18" charset="0"/>
                <a:cs typeface="Times New Roman" panose="02020603050405020304" pitchFamily="18" charset="0"/>
              </a:rPr>
              <a:t>-Used for coding and uploading programs to Arduino</a:t>
            </a:r>
          </a:p>
          <a:p>
            <a:r>
              <a:rPr lang="en-IN" dirty="0">
                <a:solidFill>
                  <a:schemeClr val="tx1"/>
                </a:solidFill>
                <a:latin typeface="Times New Roman" panose="02020603050405020304" pitchFamily="18" charset="0"/>
                <a:cs typeface="Times New Roman" panose="02020603050405020304" pitchFamily="18" charset="0"/>
              </a:rPr>
              <a:t>Embedded C / C++</a:t>
            </a:r>
          </a:p>
          <a:p>
            <a:pPr marL="45720" indent="0">
              <a:buNone/>
            </a:pPr>
            <a:r>
              <a:rPr lang="en-IN" dirty="0">
                <a:solidFill>
                  <a:schemeClr val="tx1"/>
                </a:solidFill>
                <a:latin typeface="Times New Roman" panose="02020603050405020304" pitchFamily="18" charset="0"/>
                <a:cs typeface="Times New Roman" panose="02020603050405020304" pitchFamily="18" charset="0"/>
              </a:rPr>
              <a:t>-Programming language used for logic implementation</a:t>
            </a:r>
          </a:p>
          <a:p>
            <a:r>
              <a:rPr lang="en-IN" dirty="0">
                <a:solidFill>
                  <a:schemeClr val="tx1"/>
                </a:solidFill>
                <a:latin typeface="Times New Roman" panose="02020603050405020304" pitchFamily="18" charset="0"/>
                <a:cs typeface="Times New Roman" panose="02020603050405020304" pitchFamily="18" charset="0"/>
              </a:rPr>
              <a:t>Proteus / </a:t>
            </a:r>
            <a:r>
              <a:rPr lang="en-IN" dirty="0" err="1">
                <a:solidFill>
                  <a:schemeClr val="tx1"/>
                </a:solidFill>
                <a:latin typeface="Times New Roman" panose="02020603050405020304" pitchFamily="18" charset="0"/>
                <a:cs typeface="Times New Roman" panose="02020603050405020304" pitchFamily="18" charset="0"/>
              </a:rPr>
              <a:t>Tinkercad</a:t>
            </a:r>
            <a:endParaRPr lang="en-IN" dirty="0">
              <a:solidFill>
                <a:schemeClr val="tx1"/>
              </a:solidFill>
              <a:latin typeface="Times New Roman" panose="02020603050405020304" pitchFamily="18" charset="0"/>
              <a:cs typeface="Times New Roman" panose="02020603050405020304" pitchFamily="18" charset="0"/>
            </a:endParaRPr>
          </a:p>
          <a:p>
            <a:pPr marL="45720" indent="0">
              <a:buNone/>
            </a:pPr>
            <a:r>
              <a:rPr lang="en-IN" dirty="0">
                <a:solidFill>
                  <a:schemeClr val="tx1"/>
                </a:solidFill>
                <a:latin typeface="Times New Roman" panose="02020603050405020304" pitchFamily="18" charset="0"/>
                <a:cs typeface="Times New Roman" panose="02020603050405020304" pitchFamily="18" charset="0"/>
              </a:rPr>
              <a:t>-Circuit simulation and testing</a:t>
            </a:r>
          </a:p>
          <a:p>
            <a:r>
              <a:rPr lang="en-IN" dirty="0">
                <a:solidFill>
                  <a:schemeClr val="tx1"/>
                </a:solidFill>
                <a:latin typeface="Times New Roman" panose="02020603050405020304" pitchFamily="18" charset="0"/>
                <a:cs typeface="Times New Roman" panose="02020603050405020304" pitchFamily="18" charset="0"/>
              </a:rPr>
              <a:t>Operating System (Windows/Linux)</a:t>
            </a:r>
          </a:p>
          <a:p>
            <a:pPr marL="45720" indent="0">
              <a:buNone/>
            </a:pPr>
            <a:r>
              <a:rPr lang="en-IN" dirty="0">
                <a:solidFill>
                  <a:schemeClr val="tx1"/>
                </a:solidFill>
                <a:latin typeface="Times New Roman" panose="02020603050405020304" pitchFamily="18" charset="0"/>
                <a:cs typeface="Times New Roman" panose="02020603050405020304" pitchFamily="18" charset="0"/>
              </a:rPr>
              <a:t>-Platform to run development tools</a:t>
            </a:r>
          </a:p>
          <a:p>
            <a:r>
              <a:rPr lang="en-IN" dirty="0">
                <a:solidFill>
                  <a:schemeClr val="tx1"/>
                </a:solidFill>
                <a:latin typeface="Times New Roman" panose="02020603050405020304" pitchFamily="18" charset="0"/>
                <a:cs typeface="Times New Roman" panose="02020603050405020304" pitchFamily="18" charset="0"/>
              </a:rPr>
              <a:t>Serial Monitor</a:t>
            </a:r>
          </a:p>
          <a:p>
            <a:pPr marL="45720" indent="0">
              <a:buNone/>
            </a:pPr>
            <a:r>
              <a:rPr lang="en-IN" dirty="0">
                <a:solidFill>
                  <a:schemeClr val="tx1"/>
                </a:solidFill>
                <a:latin typeface="Times New Roman" panose="02020603050405020304" pitchFamily="18" charset="0"/>
                <a:cs typeface="Times New Roman" panose="02020603050405020304" pitchFamily="18" charset="0"/>
              </a:rPr>
              <a:t>-Used to monitor sensor outputs and debugging</a:t>
            </a:r>
          </a:p>
        </p:txBody>
      </p:sp>
    </p:spTree>
    <p:extLst>
      <p:ext uri="{BB962C8B-B14F-4D97-AF65-F5344CB8AC3E}">
        <p14:creationId xmlns:p14="http://schemas.microsoft.com/office/powerpoint/2010/main" val="190462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B8C7-E371-8371-1E63-7CD6DDEF4633}"/>
              </a:ext>
            </a:extLst>
          </p:cNvPr>
          <p:cNvSpPr>
            <a:spLocks noGrp="1"/>
          </p:cNvSpPr>
          <p:nvPr>
            <p:ph type="title"/>
          </p:nvPr>
        </p:nvSpPr>
        <p:spPr>
          <a:xfrm>
            <a:off x="981844" y="692696"/>
            <a:ext cx="8770169" cy="1080120"/>
          </a:xfrm>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latin typeface="Times New Roman" panose="02020603050405020304" pitchFamily="18" charset="0"/>
                <a:cs typeface="Times New Roman" panose="02020603050405020304" pitchFamily="18" charset="0"/>
              </a:rPr>
              <a:t>Methodology</a:t>
            </a:r>
            <a:br>
              <a:rPr lang="en-US" dirty="0"/>
            </a:b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a:t>
            </a:r>
            <a:r>
              <a:rPr lang="en-US" sz="49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Existing System</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39230A4-C48B-EFE4-561A-E0AF8D314442}"/>
              </a:ext>
            </a:extLst>
          </p:cNvPr>
          <p:cNvSpPr>
            <a:spLocks noGrp="1"/>
          </p:cNvSpPr>
          <p:nvPr>
            <p:ph idx="1"/>
          </p:nvPr>
        </p:nvSpPr>
        <p:spPr>
          <a:xfrm>
            <a:off x="333772" y="3429000"/>
            <a:ext cx="5328592" cy="2696123"/>
          </a:xfrm>
        </p:spPr>
        <p:txBody>
          <a:bodyPr>
            <a:noAutofit/>
          </a:bodyPr>
          <a:lstStyle/>
          <a:p>
            <a:pPr marL="45720" indent="0">
              <a:lnSpc>
                <a:spcPct val="120000"/>
              </a:lnSpc>
              <a:buNone/>
            </a:pPr>
            <a:r>
              <a:rPr lang="en-US" sz="1800" b="1" dirty="0">
                <a:solidFill>
                  <a:schemeClr val="tx1"/>
                </a:solidFill>
                <a:latin typeface="Times New Roman" panose="02020603050405020304" pitchFamily="18" charset="0"/>
                <a:cs typeface="Times New Roman" panose="02020603050405020304" pitchFamily="18" charset="0"/>
              </a:rPr>
              <a:t>Working</a:t>
            </a:r>
          </a:p>
          <a:p>
            <a:pPr>
              <a:lnSpc>
                <a:spcPct val="120000"/>
              </a:lnSpc>
            </a:pPr>
            <a:r>
              <a:rPr lang="en-US" sz="1800" dirty="0">
                <a:solidFill>
                  <a:schemeClr val="tx1"/>
                </a:solidFill>
                <a:latin typeface="Times New Roman" panose="02020603050405020304" pitchFamily="18" charset="0"/>
                <a:cs typeface="Times New Roman" panose="02020603050405020304" pitchFamily="18" charset="0"/>
              </a:rPr>
              <a:t>Every road receives equal signal timing. </a:t>
            </a:r>
          </a:p>
          <a:p>
            <a:pPr>
              <a:lnSpc>
                <a:spcPct val="120000"/>
              </a:lnSpc>
            </a:pPr>
            <a:r>
              <a:rPr lang="en-US" sz="1800" dirty="0">
                <a:solidFill>
                  <a:schemeClr val="tx1"/>
                </a:solidFill>
                <a:latin typeface="Times New Roman" panose="02020603050405020304" pitchFamily="18" charset="0"/>
                <a:cs typeface="Times New Roman" panose="02020603050405020304" pitchFamily="18" charset="0"/>
              </a:rPr>
              <a:t>Signals change automatically after a fixed duration. </a:t>
            </a:r>
          </a:p>
          <a:p>
            <a:pPr>
              <a:lnSpc>
                <a:spcPct val="120000"/>
              </a:lnSpc>
            </a:pPr>
            <a:r>
              <a:rPr lang="en-US" sz="1800" dirty="0">
                <a:solidFill>
                  <a:schemeClr val="tx1"/>
                </a:solidFill>
                <a:latin typeface="Times New Roman" panose="02020603050405020304" pitchFamily="18" charset="0"/>
                <a:cs typeface="Times New Roman" panose="02020603050405020304" pitchFamily="18" charset="0"/>
              </a:rPr>
              <a:t>No traffic density analysis is performed. </a:t>
            </a:r>
          </a:p>
          <a:p>
            <a:pPr>
              <a:lnSpc>
                <a:spcPct val="120000"/>
              </a:lnSpc>
            </a:pPr>
            <a:endParaRPr lang="en-US" sz="1800" dirty="0">
              <a:solidFill>
                <a:schemeClr val="tx1"/>
              </a:solidFill>
              <a:latin typeface="Times New Roman" panose="02020603050405020304" pitchFamily="18" charset="0"/>
              <a:cs typeface="Times New Roman" panose="02020603050405020304" pitchFamily="18" charset="0"/>
            </a:endParaRPr>
          </a:p>
          <a:p>
            <a:pPr>
              <a:lnSpc>
                <a:spcPct val="120000"/>
              </a:lnSpc>
            </a:pPr>
            <a:endParaRPr lang="en-IN" sz="1800" dirty="0">
              <a:solidFill>
                <a:schemeClr val="tx1"/>
              </a:solidFill>
            </a:endParaRPr>
          </a:p>
        </p:txBody>
      </p:sp>
      <p:sp>
        <p:nvSpPr>
          <p:cNvPr id="4" name="TextBox 3">
            <a:extLst>
              <a:ext uri="{FF2B5EF4-FFF2-40B4-BE49-F238E27FC236}">
                <a16:creationId xmlns:a16="http://schemas.microsoft.com/office/drawing/2014/main" id="{64A60B32-FE00-D9D7-1099-CDD0D5E6D03E}"/>
              </a:ext>
            </a:extLst>
          </p:cNvPr>
          <p:cNvSpPr txBox="1"/>
          <p:nvPr/>
        </p:nvSpPr>
        <p:spPr>
          <a:xfrm>
            <a:off x="5950396" y="3325165"/>
            <a:ext cx="4968552" cy="2696123"/>
          </a:xfrm>
          <a:prstGeom prst="rect">
            <a:avLst/>
          </a:prstGeom>
          <a:noFill/>
        </p:spPr>
        <p:txBody>
          <a:bodyPr wrap="square" rtlCol="0">
            <a:spAutoFit/>
          </a:bodyPr>
          <a:lstStyle/>
          <a:p>
            <a:pPr>
              <a:lnSpc>
                <a:spcPct val="120000"/>
              </a:lnSpc>
            </a:pPr>
            <a:r>
              <a:rPr lang="en-US" b="1" dirty="0">
                <a:latin typeface="Times New Roman" panose="02020603050405020304" pitchFamily="18" charset="0"/>
                <a:cs typeface="Times New Roman" panose="02020603050405020304" pitchFamily="18" charset="0"/>
              </a:rPr>
              <a:t>Disadvantages</a:t>
            </a:r>
          </a:p>
          <a:p>
            <a:pPr>
              <a:lnSpc>
                <a:spcPct val="120000"/>
              </a:lnSpc>
            </a:pPr>
            <a:endParaRPr lang="en-US" b="1"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Increased traffic congestion </a:t>
            </a:r>
          </a:p>
          <a:p>
            <a:pPr marL="285750"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Longer waiting time </a:t>
            </a:r>
          </a:p>
          <a:p>
            <a:pPr marL="285750"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Wastage of fuel </a:t>
            </a:r>
          </a:p>
          <a:p>
            <a:pPr marL="285750"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Poor traffic management during peak hours </a:t>
            </a:r>
          </a:p>
          <a:p>
            <a:pPr marL="285750"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priority for emergency vehicles</a:t>
            </a:r>
          </a:p>
          <a:p>
            <a:endParaRPr lang="en-IN" dirty="0"/>
          </a:p>
        </p:txBody>
      </p:sp>
      <p:sp>
        <p:nvSpPr>
          <p:cNvPr id="5" name="TextBox 4">
            <a:extLst>
              <a:ext uri="{FF2B5EF4-FFF2-40B4-BE49-F238E27FC236}">
                <a16:creationId xmlns:a16="http://schemas.microsoft.com/office/drawing/2014/main" id="{D4C8479A-403E-6357-1702-055B34840388}"/>
              </a:ext>
            </a:extLst>
          </p:cNvPr>
          <p:cNvSpPr txBox="1"/>
          <p:nvPr/>
        </p:nvSpPr>
        <p:spPr>
          <a:xfrm>
            <a:off x="801824" y="1772816"/>
            <a:ext cx="9721080" cy="16158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existing traffic signal system works using </a:t>
            </a:r>
            <a:r>
              <a:rPr lang="en-US" b="1" dirty="0">
                <a:latin typeface="Times New Roman" panose="02020603050405020304" pitchFamily="18" charset="0"/>
                <a:cs typeface="Times New Roman" panose="02020603050405020304" pitchFamily="18" charset="0"/>
              </a:rPr>
              <a:t>fixed time intervals</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traffic signal changes according to predefined timings without considering real-time traffic conditions.</a:t>
            </a:r>
          </a:p>
          <a:p>
            <a:endParaRPr lang="en-IN" dirty="0"/>
          </a:p>
        </p:txBody>
      </p:sp>
    </p:spTree>
    <p:extLst>
      <p:ext uri="{BB962C8B-B14F-4D97-AF65-F5344CB8AC3E}">
        <p14:creationId xmlns:p14="http://schemas.microsoft.com/office/powerpoint/2010/main" val="332898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ADEC9-D854-6AE8-257E-38518DC90ACE}"/>
              </a:ext>
            </a:extLst>
          </p:cNvPr>
          <p:cNvSpPr>
            <a:spLocks noGrp="1"/>
          </p:cNvSpPr>
          <p:nvPr>
            <p:ph type="title"/>
          </p:nvPr>
        </p:nvSpPr>
        <p:spPr>
          <a:xfrm flipH="1">
            <a:off x="909836" y="332656"/>
            <a:ext cx="9880027" cy="648072"/>
          </a:xfrm>
        </p:spPr>
        <p:txBody>
          <a:bodyPr>
            <a:normAutofit/>
          </a:bodyPr>
          <a:lstStyle/>
          <a:p>
            <a:r>
              <a:rPr lang="en-IN" dirty="0">
                <a:latin typeface="Times New Roman" panose="02020603050405020304" pitchFamily="18" charset="0"/>
                <a:cs typeface="Times New Roman" panose="02020603050405020304" pitchFamily="18" charset="0"/>
              </a:rPr>
              <a:t>Architecture of Existing System</a:t>
            </a:r>
            <a:endParaRPr lang="en-IN" dirty="0"/>
          </a:p>
        </p:txBody>
      </p:sp>
      <p:sp>
        <p:nvSpPr>
          <p:cNvPr id="3" name="Content Placeholder 2">
            <a:extLst>
              <a:ext uri="{FF2B5EF4-FFF2-40B4-BE49-F238E27FC236}">
                <a16:creationId xmlns:a16="http://schemas.microsoft.com/office/drawing/2014/main" id="{A0F9F49E-B30C-89DC-6333-3041491978A9}"/>
              </a:ext>
            </a:extLst>
          </p:cNvPr>
          <p:cNvSpPr>
            <a:spLocks noGrp="1"/>
          </p:cNvSpPr>
          <p:nvPr>
            <p:ph idx="1"/>
          </p:nvPr>
        </p:nvSpPr>
        <p:spPr>
          <a:xfrm>
            <a:off x="1065212" y="1484784"/>
            <a:ext cx="8686801" cy="5184575"/>
          </a:xfrm>
        </p:spPr>
        <p:txBody>
          <a:bodyPr>
            <a:normAutofit/>
          </a:bodyPr>
          <a:lstStyle/>
          <a:p>
            <a:r>
              <a:rPr lang="en-IN" sz="1800" dirty="0">
                <a:solidFill>
                  <a:schemeClr val="tx1"/>
                </a:solidFill>
                <a:latin typeface="Times New Roman" panose="02020603050405020304" pitchFamily="18" charset="0"/>
                <a:cs typeface="Times New Roman" panose="02020603050405020304" pitchFamily="18" charset="0"/>
              </a:rPr>
              <a:t>Fixed Timer</a:t>
            </a: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     ↓</a:t>
            </a: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Traffic Signal Controller</a:t>
            </a: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     ↓</a:t>
            </a: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Traffic Lights</a:t>
            </a: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     ↓</a:t>
            </a: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Vehicle Movement</a:t>
            </a:r>
          </a:p>
          <a:p>
            <a:pPr marL="45720" indent="0">
              <a:buNone/>
            </a:pPr>
            <a:endParaRPr lang="en-IN" sz="1800" dirty="0">
              <a:solidFill>
                <a:schemeClr val="tx1"/>
              </a:solidFill>
              <a:latin typeface="Times New Roman" panose="02020603050405020304" pitchFamily="18" charset="0"/>
              <a:cs typeface="Times New Roman" panose="02020603050405020304" pitchFamily="18" charset="0"/>
            </a:endParaRPr>
          </a:p>
          <a:p>
            <a:pPr marL="45720" indent="0">
              <a:buNone/>
            </a:pPr>
            <a:r>
              <a:rPr lang="en-IN" sz="1800" b="1" dirty="0">
                <a:solidFill>
                  <a:schemeClr val="tx1"/>
                </a:solidFill>
                <a:latin typeface="Times New Roman" panose="02020603050405020304" pitchFamily="18" charset="0"/>
                <a:cs typeface="Times New Roman" panose="02020603050405020304" pitchFamily="18" charset="0"/>
              </a:rPr>
              <a:t>Explanation</a:t>
            </a:r>
          </a:p>
          <a:p>
            <a:r>
              <a:rPr lang="en-IN" sz="1800" dirty="0">
                <a:solidFill>
                  <a:schemeClr val="tx1"/>
                </a:solidFill>
                <a:latin typeface="Times New Roman" panose="02020603050405020304" pitchFamily="18" charset="0"/>
                <a:cs typeface="Times New Roman" panose="02020603050405020304" pitchFamily="18" charset="0"/>
              </a:rPr>
              <a:t>The timer controls signal changes. </a:t>
            </a:r>
          </a:p>
          <a:p>
            <a:r>
              <a:rPr lang="en-IN" sz="1800" dirty="0">
                <a:solidFill>
                  <a:schemeClr val="tx1"/>
                </a:solidFill>
                <a:latin typeface="Times New Roman" panose="02020603050405020304" pitchFamily="18" charset="0"/>
                <a:cs typeface="Times New Roman" panose="02020603050405020304" pitchFamily="18" charset="0"/>
              </a:rPr>
              <a:t>Traffic signals operate on fixed schedules. </a:t>
            </a:r>
          </a:p>
          <a:p>
            <a:r>
              <a:rPr lang="en-IN" sz="1800" dirty="0">
                <a:solidFill>
                  <a:schemeClr val="tx1"/>
                </a:solidFill>
                <a:latin typeface="Times New Roman" panose="02020603050405020304" pitchFamily="18" charset="0"/>
                <a:cs typeface="Times New Roman" panose="02020603050405020304" pitchFamily="18" charset="0"/>
              </a:rPr>
              <a:t>Vehicle flow is not monitored dynamically</a:t>
            </a:r>
            <a:r>
              <a:rPr lang="en-IN" sz="3200"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466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F02E-8B78-3E4A-198E-26241F012B0A}"/>
              </a:ext>
            </a:extLst>
          </p:cNvPr>
          <p:cNvSpPr>
            <a:spLocks noGrp="1"/>
          </p:cNvSpPr>
          <p:nvPr>
            <p:ph type="title"/>
          </p:nvPr>
        </p:nvSpPr>
        <p:spPr>
          <a:xfrm>
            <a:off x="1065212" y="116632"/>
            <a:ext cx="8686801" cy="691480"/>
          </a:xfrm>
        </p:spPr>
        <p:txBody>
          <a:bodyPr/>
          <a:lstStyle/>
          <a:p>
            <a:r>
              <a:rPr lang="en-IN"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D87BAEA6-DC5D-457C-627E-B443C9477176}"/>
              </a:ext>
            </a:extLst>
          </p:cNvPr>
          <p:cNvSpPr>
            <a:spLocks noGrp="1"/>
          </p:cNvSpPr>
          <p:nvPr>
            <p:ph idx="1"/>
          </p:nvPr>
        </p:nvSpPr>
        <p:spPr>
          <a:xfrm>
            <a:off x="693812" y="1209032"/>
            <a:ext cx="4752528" cy="4812255"/>
          </a:xfrm>
        </p:spPr>
        <p:txBody>
          <a:bodyPr>
            <a:noAutofit/>
          </a:bodyPr>
          <a:lstStyle/>
          <a:p>
            <a:pPr>
              <a:lnSpc>
                <a:spcPct val="200000"/>
              </a:lnSpc>
            </a:pPr>
            <a:r>
              <a:rPr lang="en-US" sz="1800" dirty="0">
                <a:solidFill>
                  <a:schemeClr val="tx1"/>
                </a:solidFill>
                <a:latin typeface="Times New Roman" panose="02020603050405020304" pitchFamily="18" charset="0"/>
                <a:cs typeface="Times New Roman" panose="02020603050405020304" pitchFamily="18" charset="0"/>
              </a:rPr>
              <a:t>The proposed system is a </a:t>
            </a:r>
            <a:r>
              <a:rPr lang="en-US" sz="1800" b="1" dirty="0">
                <a:solidFill>
                  <a:schemeClr val="tx1"/>
                </a:solidFill>
                <a:latin typeface="Times New Roman" panose="02020603050405020304" pitchFamily="18" charset="0"/>
                <a:cs typeface="Times New Roman" panose="02020603050405020304" pitchFamily="18" charset="0"/>
              </a:rPr>
              <a:t>Rule-Based Traffic Signal Optimization System</a:t>
            </a:r>
            <a:r>
              <a:rPr lang="en-US" sz="1800" dirty="0">
                <a:solidFill>
                  <a:schemeClr val="tx1"/>
                </a:solidFill>
                <a:latin typeface="Times New Roman" panose="02020603050405020304" pitchFamily="18" charset="0"/>
                <a:cs typeface="Times New Roman" panose="02020603050405020304" pitchFamily="18" charset="0"/>
              </a:rPr>
              <a:t> that adjusts signal timings based on traffic density.</a:t>
            </a:r>
          </a:p>
          <a:p>
            <a:pPr marL="45720" indent="0">
              <a:buNone/>
            </a:pPr>
            <a:endParaRPr lang="en-US" sz="1800" b="1" dirty="0">
              <a:solidFill>
                <a:schemeClr val="tx1"/>
              </a:solidFill>
              <a:latin typeface="Times New Roman" panose="02020603050405020304" pitchFamily="18" charset="0"/>
              <a:cs typeface="Times New Roman" panose="02020603050405020304" pitchFamily="18" charset="0"/>
            </a:endParaRPr>
          </a:p>
          <a:p>
            <a:pPr marL="45720" indent="0">
              <a:buNone/>
            </a:pPr>
            <a:r>
              <a:rPr lang="en-US" sz="1800" b="1" dirty="0">
                <a:solidFill>
                  <a:schemeClr val="tx1"/>
                </a:solidFill>
                <a:latin typeface="Times New Roman" panose="02020603050405020304" pitchFamily="18" charset="0"/>
                <a:cs typeface="Times New Roman" panose="02020603050405020304" pitchFamily="18" charset="0"/>
              </a:rPr>
              <a:t>Working</a:t>
            </a:r>
          </a:p>
          <a:p>
            <a:r>
              <a:rPr lang="en-US" sz="1800" dirty="0">
                <a:solidFill>
                  <a:schemeClr val="tx1"/>
                </a:solidFill>
                <a:latin typeface="Times New Roman" panose="02020603050405020304" pitchFamily="18" charset="0"/>
                <a:cs typeface="Times New Roman" panose="02020603050405020304" pitchFamily="18" charset="0"/>
              </a:rPr>
              <a:t>IR sensors detect vehicles. </a:t>
            </a:r>
          </a:p>
          <a:p>
            <a:r>
              <a:rPr lang="en-US" sz="1800" dirty="0">
                <a:solidFill>
                  <a:schemeClr val="tx1"/>
                </a:solidFill>
                <a:latin typeface="Times New Roman" panose="02020603050405020304" pitchFamily="18" charset="0"/>
                <a:cs typeface="Times New Roman" panose="02020603050405020304" pitchFamily="18" charset="0"/>
              </a:rPr>
              <a:t>Arduino controller processes data. </a:t>
            </a:r>
          </a:p>
          <a:p>
            <a:r>
              <a:rPr lang="en-US" sz="1800" dirty="0">
                <a:solidFill>
                  <a:schemeClr val="tx1"/>
                </a:solidFill>
                <a:latin typeface="Times New Roman" panose="02020603050405020304" pitchFamily="18" charset="0"/>
                <a:cs typeface="Times New Roman" panose="02020603050405020304" pitchFamily="18" charset="0"/>
              </a:rPr>
              <a:t>Rules are applied to control signal timing. </a:t>
            </a:r>
          </a:p>
          <a:p>
            <a:r>
              <a:rPr lang="en-US" sz="1800" dirty="0">
                <a:solidFill>
                  <a:schemeClr val="tx1"/>
                </a:solidFill>
                <a:latin typeface="Times New Roman" panose="02020603050405020304" pitchFamily="18" charset="0"/>
                <a:cs typeface="Times New Roman" panose="02020603050405020304" pitchFamily="18" charset="0"/>
              </a:rPr>
              <a:t>High traffic roads get longer green signals. </a:t>
            </a:r>
          </a:p>
          <a:p>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1DBC38-DDE1-068D-F5BF-6855FA0F4B61}"/>
              </a:ext>
            </a:extLst>
          </p:cNvPr>
          <p:cNvSpPr txBox="1"/>
          <p:nvPr/>
        </p:nvSpPr>
        <p:spPr>
          <a:xfrm>
            <a:off x="6094412" y="1395192"/>
            <a:ext cx="4896544" cy="4439933"/>
          </a:xfrm>
          <a:prstGeom prst="rect">
            <a:avLst/>
          </a:prstGeom>
          <a:noFill/>
        </p:spPr>
        <p:txBody>
          <a:bodyPr wrap="square" rtlCol="0">
            <a:spAutoFit/>
          </a:bodyPr>
          <a:lstStyle/>
          <a:p>
            <a:pPr>
              <a:lnSpc>
                <a:spcPct val="200000"/>
              </a:lnSpc>
            </a:pPr>
            <a:r>
              <a:rPr lang="en-US" b="1" dirty="0">
                <a:latin typeface="Times New Roman" panose="02020603050405020304" pitchFamily="18" charset="0"/>
                <a:cs typeface="Times New Roman" panose="02020603050405020304" pitchFamily="18" charset="0"/>
              </a:rPr>
              <a:t>Features</a:t>
            </a:r>
          </a:p>
          <a:p>
            <a:pPr>
              <a:lnSpc>
                <a:spcPct val="200000"/>
              </a:lnSpc>
            </a:pPr>
            <a:r>
              <a:rPr lang="en-US" dirty="0">
                <a:latin typeface="Times New Roman" panose="02020603050405020304" pitchFamily="18" charset="0"/>
                <a:cs typeface="Times New Roman" panose="02020603050405020304" pitchFamily="18" charset="0"/>
              </a:rPr>
              <a:t>Reduces congestion </a:t>
            </a:r>
          </a:p>
          <a:p>
            <a:pPr>
              <a:lnSpc>
                <a:spcPct val="200000"/>
              </a:lnSpc>
            </a:pPr>
            <a:r>
              <a:rPr lang="en-US" dirty="0">
                <a:latin typeface="Times New Roman" panose="02020603050405020304" pitchFamily="18" charset="0"/>
                <a:cs typeface="Times New Roman" panose="02020603050405020304" pitchFamily="18" charset="0"/>
              </a:rPr>
              <a:t>Saves waiting time </a:t>
            </a:r>
          </a:p>
          <a:p>
            <a:pPr>
              <a:lnSpc>
                <a:spcPct val="200000"/>
              </a:lnSpc>
            </a:pPr>
            <a:r>
              <a:rPr lang="en-US" dirty="0">
                <a:latin typeface="Times New Roman" panose="02020603050405020304" pitchFamily="18" charset="0"/>
                <a:cs typeface="Times New Roman" panose="02020603050405020304" pitchFamily="18" charset="0"/>
              </a:rPr>
              <a:t>Improves traffic flow </a:t>
            </a:r>
          </a:p>
          <a:p>
            <a:pPr>
              <a:lnSpc>
                <a:spcPct val="200000"/>
              </a:lnSpc>
            </a:pPr>
            <a:r>
              <a:rPr lang="en-US" b="1" dirty="0">
                <a:latin typeface="Times New Roman" panose="02020603050405020304" pitchFamily="18" charset="0"/>
                <a:cs typeface="Times New Roman" panose="02020603050405020304" pitchFamily="18" charset="0"/>
              </a:rPr>
              <a:t>Rules</a:t>
            </a:r>
          </a:p>
          <a:p>
            <a:pPr>
              <a:lnSpc>
                <a:spcPct val="200000"/>
              </a:lnSpc>
            </a:pPr>
            <a:r>
              <a:rPr lang="en-US" dirty="0">
                <a:latin typeface="Times New Roman" panose="02020603050405020304" pitchFamily="18" charset="0"/>
                <a:cs typeface="Times New Roman" panose="02020603050405020304" pitchFamily="18" charset="0"/>
              </a:rPr>
              <a:t>High traffic → 60 sec </a:t>
            </a:r>
          </a:p>
          <a:p>
            <a:pPr>
              <a:lnSpc>
                <a:spcPct val="200000"/>
              </a:lnSpc>
            </a:pPr>
            <a:r>
              <a:rPr lang="en-US" dirty="0">
                <a:latin typeface="Times New Roman" panose="02020603050405020304" pitchFamily="18" charset="0"/>
                <a:cs typeface="Times New Roman" panose="02020603050405020304" pitchFamily="18" charset="0"/>
              </a:rPr>
              <a:t>Medium traffic → 40 sec </a:t>
            </a:r>
          </a:p>
          <a:p>
            <a:pPr>
              <a:lnSpc>
                <a:spcPct val="200000"/>
              </a:lnSpc>
            </a:pPr>
            <a:r>
              <a:rPr lang="en-US" dirty="0">
                <a:latin typeface="Times New Roman" panose="02020603050405020304" pitchFamily="18" charset="0"/>
                <a:cs typeface="Times New Roman" panose="02020603050405020304" pitchFamily="18" charset="0"/>
              </a:rPr>
              <a:t>Low traffic → 20 sec</a:t>
            </a:r>
          </a:p>
        </p:txBody>
      </p:sp>
    </p:spTree>
    <p:extLst>
      <p:ext uri="{BB962C8B-B14F-4D97-AF65-F5344CB8AC3E}">
        <p14:creationId xmlns:p14="http://schemas.microsoft.com/office/powerpoint/2010/main" val="57775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2F92B-A4C7-E817-54CD-75B35674E708}"/>
              </a:ext>
            </a:extLst>
          </p:cNvPr>
          <p:cNvSpPr>
            <a:spLocks noGrp="1"/>
          </p:cNvSpPr>
          <p:nvPr>
            <p:ph type="title"/>
          </p:nvPr>
        </p:nvSpPr>
        <p:spPr>
          <a:xfrm>
            <a:off x="621804" y="348680"/>
            <a:ext cx="8686801" cy="1064096"/>
          </a:xfrm>
        </p:spPr>
        <p:txBody>
          <a:bodyPr/>
          <a:lstStyle/>
          <a:p>
            <a:r>
              <a:rPr lang="en-IN" dirty="0">
                <a:latin typeface="Times New Roman" panose="02020603050405020304" pitchFamily="18" charset="0"/>
                <a:cs typeface="Times New Roman" panose="02020603050405020304" pitchFamily="18" charset="0"/>
              </a:rPr>
              <a:t>Architecture of Proposed System</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2F16903-90AF-A961-B86F-B3605069FD31}"/>
              </a:ext>
            </a:extLst>
          </p:cNvPr>
          <p:cNvSpPr>
            <a:spLocks noGrp="1"/>
          </p:cNvSpPr>
          <p:nvPr>
            <p:ph idx="1"/>
          </p:nvPr>
        </p:nvSpPr>
        <p:spPr>
          <a:xfrm>
            <a:off x="621804" y="1340768"/>
            <a:ext cx="6552728" cy="4968552"/>
          </a:xfrm>
        </p:spPr>
        <p:txBody>
          <a:bodyPr>
            <a:normAutofit fontScale="47500" lnSpcReduction="20000"/>
          </a:bodyPr>
          <a:lstStyle/>
          <a:p>
            <a:pPr marL="45720" indent="0">
              <a:buNone/>
            </a:pPr>
            <a:r>
              <a:rPr lang="en-IN" sz="4400" b="1" dirty="0">
                <a:solidFill>
                  <a:schemeClr val="tx1"/>
                </a:solidFill>
                <a:latin typeface="Times New Roman" panose="02020603050405020304" pitchFamily="18" charset="0"/>
                <a:cs typeface="Times New Roman" panose="02020603050405020304" pitchFamily="18" charset="0"/>
              </a:rPr>
              <a:t>Architecture Explanation</a:t>
            </a:r>
          </a:p>
          <a:p>
            <a:pPr marL="45720" indent="0">
              <a:buNone/>
            </a:pPr>
            <a:r>
              <a:rPr lang="en-IN" sz="4400" b="1" dirty="0">
                <a:solidFill>
                  <a:schemeClr val="tx1"/>
                </a:solidFill>
                <a:latin typeface="Times New Roman" panose="02020603050405020304" pitchFamily="18" charset="0"/>
                <a:cs typeface="Times New Roman" panose="02020603050405020304" pitchFamily="18" charset="0"/>
              </a:rPr>
              <a:t>1. IR Sensors</a:t>
            </a:r>
          </a:p>
          <a:p>
            <a:r>
              <a:rPr lang="en-IN" sz="4400" dirty="0">
                <a:solidFill>
                  <a:schemeClr val="tx1"/>
                </a:solidFill>
                <a:latin typeface="Times New Roman" panose="02020603050405020304" pitchFamily="18" charset="0"/>
                <a:cs typeface="Times New Roman" panose="02020603050405020304" pitchFamily="18" charset="0"/>
              </a:rPr>
              <a:t>Detect vehicle density on each lane.</a:t>
            </a:r>
          </a:p>
          <a:p>
            <a:pPr marL="45720" indent="0">
              <a:buNone/>
            </a:pPr>
            <a:r>
              <a:rPr lang="en-IN" sz="4400" b="1" dirty="0">
                <a:solidFill>
                  <a:schemeClr val="tx1"/>
                </a:solidFill>
                <a:latin typeface="Times New Roman" panose="02020603050405020304" pitchFamily="18" charset="0"/>
                <a:cs typeface="Times New Roman" panose="02020603050405020304" pitchFamily="18" charset="0"/>
              </a:rPr>
              <a:t>2. Arduino Uno</a:t>
            </a:r>
          </a:p>
          <a:p>
            <a:r>
              <a:rPr lang="en-IN" sz="4400" dirty="0">
                <a:solidFill>
                  <a:schemeClr val="tx1"/>
                </a:solidFill>
                <a:latin typeface="Times New Roman" panose="02020603050405020304" pitchFamily="18" charset="0"/>
                <a:cs typeface="Times New Roman" panose="02020603050405020304" pitchFamily="18" charset="0"/>
              </a:rPr>
              <a:t>Processes sensor input and controls traffic signals.</a:t>
            </a:r>
          </a:p>
          <a:p>
            <a:pPr marL="45720" indent="0">
              <a:buNone/>
            </a:pPr>
            <a:r>
              <a:rPr lang="en-IN" sz="4400" b="1" dirty="0">
                <a:solidFill>
                  <a:schemeClr val="tx1"/>
                </a:solidFill>
                <a:latin typeface="Times New Roman" panose="02020603050405020304" pitchFamily="18" charset="0"/>
                <a:cs typeface="Times New Roman" panose="02020603050405020304" pitchFamily="18" charset="0"/>
              </a:rPr>
              <a:t>3. Rule-Based Algorithm</a:t>
            </a:r>
          </a:p>
          <a:p>
            <a:r>
              <a:rPr lang="en-IN" sz="4400" dirty="0">
                <a:solidFill>
                  <a:schemeClr val="tx1"/>
                </a:solidFill>
                <a:latin typeface="Times New Roman" panose="02020603050405020304" pitchFamily="18" charset="0"/>
                <a:cs typeface="Times New Roman" panose="02020603050405020304" pitchFamily="18" charset="0"/>
              </a:rPr>
              <a:t>Applies predefined traffic management rules.</a:t>
            </a:r>
          </a:p>
          <a:p>
            <a:pPr marL="45720" indent="0">
              <a:buNone/>
            </a:pPr>
            <a:r>
              <a:rPr lang="en-IN" sz="4400" b="1" dirty="0">
                <a:solidFill>
                  <a:schemeClr val="tx1"/>
                </a:solidFill>
                <a:latin typeface="Times New Roman" panose="02020603050405020304" pitchFamily="18" charset="0"/>
                <a:cs typeface="Times New Roman" panose="02020603050405020304" pitchFamily="18" charset="0"/>
              </a:rPr>
              <a:t>4. Traffic Signal LEDs</a:t>
            </a:r>
          </a:p>
          <a:p>
            <a:r>
              <a:rPr lang="en-IN" sz="4400" dirty="0">
                <a:solidFill>
                  <a:schemeClr val="tx1"/>
                </a:solidFill>
                <a:latin typeface="Times New Roman" panose="02020603050405020304" pitchFamily="18" charset="0"/>
                <a:cs typeface="Times New Roman" panose="02020603050405020304" pitchFamily="18" charset="0"/>
              </a:rPr>
              <a:t>Display red, yellow, and green signals.</a:t>
            </a:r>
          </a:p>
          <a:p>
            <a:pPr marL="45720" indent="0">
              <a:buNone/>
            </a:pPr>
            <a:r>
              <a:rPr lang="en-IN" sz="4400" b="1" dirty="0">
                <a:solidFill>
                  <a:schemeClr val="tx1"/>
                </a:solidFill>
                <a:latin typeface="Times New Roman" panose="02020603050405020304" pitchFamily="18" charset="0"/>
                <a:cs typeface="Times New Roman" panose="02020603050405020304" pitchFamily="18" charset="0"/>
              </a:rPr>
              <a:t>5. Optimized Traffic Flow</a:t>
            </a:r>
          </a:p>
          <a:p>
            <a:r>
              <a:rPr lang="en-IN" sz="4400" dirty="0">
                <a:solidFill>
                  <a:schemeClr val="tx1"/>
                </a:solidFill>
                <a:latin typeface="Times New Roman" panose="02020603050405020304" pitchFamily="18" charset="0"/>
                <a:cs typeface="Times New Roman" panose="02020603050405020304" pitchFamily="18" charset="0"/>
              </a:rPr>
              <a:t>Vehicles move efficiently with reduced congestion.</a:t>
            </a:r>
          </a:p>
          <a:p>
            <a:endParaRPr lang="en-IN" dirty="0">
              <a:solidFill>
                <a:schemeClr val="tx1"/>
              </a:solidFill>
            </a:endParaRPr>
          </a:p>
        </p:txBody>
      </p:sp>
      <p:sp>
        <p:nvSpPr>
          <p:cNvPr id="4" name="TextBox 3">
            <a:extLst>
              <a:ext uri="{FF2B5EF4-FFF2-40B4-BE49-F238E27FC236}">
                <a16:creationId xmlns:a16="http://schemas.microsoft.com/office/drawing/2014/main" id="{BE37CCB2-F25D-AD84-7B12-12908D4F6683}"/>
              </a:ext>
            </a:extLst>
          </p:cNvPr>
          <p:cNvSpPr txBox="1"/>
          <p:nvPr/>
        </p:nvSpPr>
        <p:spPr>
          <a:xfrm>
            <a:off x="7822604" y="2276872"/>
            <a:ext cx="3240360" cy="3416320"/>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FLOW CHART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IR Sensors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Arduino Uno Controller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Rule-Based Algorithm</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Traffic Signal LEDs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Optimized Traffic Flow</a:t>
            </a:r>
          </a:p>
          <a:p>
            <a:endParaRPr lang="en-IN" dirty="0"/>
          </a:p>
        </p:txBody>
      </p:sp>
    </p:spTree>
    <p:extLst>
      <p:ext uri="{BB962C8B-B14F-4D97-AF65-F5344CB8AC3E}">
        <p14:creationId xmlns:p14="http://schemas.microsoft.com/office/powerpoint/2010/main" val="227835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usiness Contrast 16x9">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3B9166-2E01-44C0-B213-4E36B4FF9306}" vid="{9FB243D3-233B-4EB4-BE37-C505132985D4}"/>
    </a:ext>
  </a:extLst>
</a:theme>
</file>

<file path=ppt/theme/theme2.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32D51B-405E-4F81-B5A9-F253CD7FC48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4CEB76F-5C52-4F69-A3C1-2DBEA8CF74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7567CE-A543-444C-8597-EB22784911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Business contrast presentation (widescreen)</Template>
  <TotalTime>65</TotalTime>
  <Words>683</Words>
  <Application>Microsoft Office PowerPoint</Application>
  <PresentationFormat>Custom</PresentationFormat>
  <Paragraphs>102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Franklin Gothic Medium</vt:lpstr>
      <vt:lpstr>Times New Roman</vt:lpstr>
      <vt:lpstr>Business Contrast 16x9</vt:lpstr>
      <vt:lpstr>Traffic Signal Optimization</vt:lpstr>
      <vt:lpstr>CONTENTS / AGENDA</vt:lpstr>
      <vt:lpstr>ABSTRACT</vt:lpstr>
      <vt:lpstr>HARDWARE</vt:lpstr>
      <vt:lpstr>SOFTWARE</vt:lpstr>
      <vt:lpstr>           Methodology                                     A)  Existing System </vt:lpstr>
      <vt:lpstr>Architecture of Existing System</vt:lpstr>
      <vt:lpstr>Proposed System</vt:lpstr>
      <vt:lpstr>Architecture of Proposed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kathula taniya</dc:creator>
  <cp:lastModifiedBy>G Satya</cp:lastModifiedBy>
  <cp:revision>2</cp:revision>
  <dcterms:created xsi:type="dcterms:W3CDTF">2026-05-20T05:42:04Z</dcterms:created>
  <dcterms:modified xsi:type="dcterms:W3CDTF">2026-05-21T07:29:03Z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